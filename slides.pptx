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Pixellet TH" charset="1" panose="02000503000000000000"/>
      <p:regular r:id="rId13"/>
    </p:embeddedFont>
    <p:embeddedFont>
      <p:font typeface="Bitter" charset="1" panose="0200000000000000000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4556324" y="888431"/>
            <a:ext cx="9175351" cy="8510138"/>
          </a:xfrm>
          <a:custGeom>
            <a:avLst/>
            <a:gdLst/>
            <a:ahLst/>
            <a:cxnLst/>
            <a:rect r="r" b="b" t="t" l="l"/>
            <a:pathLst>
              <a:path h="8510138" w="9175351">
                <a:moveTo>
                  <a:pt x="0" y="0"/>
                </a:moveTo>
                <a:lnTo>
                  <a:pt x="9175352" y="0"/>
                </a:lnTo>
                <a:lnTo>
                  <a:pt x="9175352" y="8510138"/>
                </a:lnTo>
                <a:lnTo>
                  <a:pt x="0" y="85101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0" y="7048066"/>
            <a:ext cx="3238934" cy="3238934"/>
          </a:xfrm>
          <a:custGeom>
            <a:avLst/>
            <a:gdLst/>
            <a:ahLst/>
            <a:cxnLst/>
            <a:rect r="r" b="b" t="t" l="l"/>
            <a:pathLst>
              <a:path h="3238934" w="3238934">
                <a:moveTo>
                  <a:pt x="0" y="0"/>
                </a:moveTo>
                <a:lnTo>
                  <a:pt x="3238934" y="0"/>
                </a:lnTo>
                <a:lnTo>
                  <a:pt x="3238934" y="3238934"/>
                </a:lnTo>
                <a:lnTo>
                  <a:pt x="0" y="32389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245777">
            <a:off x="-573500" y="-1168969"/>
            <a:ext cx="3204400" cy="4114800"/>
          </a:xfrm>
          <a:custGeom>
            <a:avLst/>
            <a:gdLst/>
            <a:ahLst/>
            <a:cxnLst/>
            <a:rect r="r" b="b" t="t" l="l"/>
            <a:pathLst>
              <a:path h="4114800" w="3204400">
                <a:moveTo>
                  <a:pt x="0" y="0"/>
                </a:moveTo>
                <a:lnTo>
                  <a:pt x="3204400" y="0"/>
                </a:lnTo>
                <a:lnTo>
                  <a:pt x="32044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5400000">
            <a:off x="13783350" y="1604320"/>
            <a:ext cx="5770085" cy="2957169"/>
          </a:xfrm>
          <a:custGeom>
            <a:avLst/>
            <a:gdLst/>
            <a:ahLst/>
            <a:cxnLst/>
            <a:rect r="r" b="b" t="t" l="l"/>
            <a:pathLst>
              <a:path h="2957169" w="5770085">
                <a:moveTo>
                  <a:pt x="0" y="0"/>
                </a:moveTo>
                <a:lnTo>
                  <a:pt x="5770085" y="0"/>
                </a:lnTo>
                <a:lnTo>
                  <a:pt x="5770085" y="2957168"/>
                </a:lnTo>
                <a:lnTo>
                  <a:pt x="0" y="295716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5787053" y="983503"/>
            <a:ext cx="6713894" cy="4176116"/>
          </a:xfrm>
          <a:prstGeom prst="rect">
            <a:avLst/>
          </a:prstGeom>
        </p:spPr>
        <p:txBody>
          <a:bodyPr anchor="t" rtlCol="false" tIns="0" lIns="0" bIns="0" rIns="0">
            <a:spAutoFit/>
          </a:bodyPr>
          <a:lstStyle/>
          <a:p>
            <a:pPr algn="ctr">
              <a:lnSpc>
                <a:spcPts val="8170"/>
              </a:lnSpc>
            </a:pPr>
            <a:r>
              <a:rPr lang="en-US" sz="5835">
                <a:solidFill>
                  <a:srgbClr val="000000"/>
                </a:solidFill>
                <a:latin typeface="Pixellet TH"/>
                <a:ea typeface="Pixellet TH"/>
                <a:cs typeface="Pixellet TH"/>
                <a:sym typeface="Pixellet TH"/>
              </a:rPr>
              <a:t>p22</a:t>
            </a:r>
          </a:p>
          <a:p>
            <a:pPr algn="ctr">
              <a:lnSpc>
                <a:spcPts val="8170"/>
              </a:lnSpc>
            </a:pPr>
            <a:r>
              <a:rPr lang="en-US" sz="5835">
                <a:solidFill>
                  <a:srgbClr val="000000"/>
                </a:solidFill>
                <a:latin typeface="Pixellet TH"/>
                <a:ea typeface="Pixellet TH"/>
                <a:cs typeface="Pixellet TH"/>
                <a:sym typeface="Pixellet TH"/>
              </a:rPr>
              <a:t>June jam</a:t>
            </a:r>
          </a:p>
          <a:p>
            <a:pPr algn="ctr">
              <a:lnSpc>
                <a:spcPts val="8170"/>
              </a:lnSpc>
            </a:pPr>
            <a:r>
              <a:rPr lang="en-US" sz="5835">
                <a:solidFill>
                  <a:srgbClr val="000000"/>
                </a:solidFill>
                <a:latin typeface="Pixellet TH"/>
                <a:ea typeface="Pixellet TH"/>
                <a:cs typeface="Pixellet TH"/>
                <a:sym typeface="Pixellet TH"/>
              </a:rPr>
              <a:t>submission</a:t>
            </a:r>
          </a:p>
          <a:p>
            <a:pPr algn="ctr">
              <a:lnSpc>
                <a:spcPts val="8170"/>
              </a:lnSpc>
              <a:spcBef>
                <a:spcPct val="0"/>
              </a:spcBef>
            </a:pPr>
            <a:r>
              <a:rPr lang="en-US" sz="5835">
                <a:solidFill>
                  <a:srgbClr val="000000"/>
                </a:solidFill>
                <a:latin typeface="Pixellet TH"/>
                <a:ea typeface="Pixellet TH"/>
                <a:cs typeface="Pixellet TH"/>
                <a:sym typeface="Pixellet TH"/>
              </a:rPr>
              <a:t>adaptation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039662" y="7392924"/>
            <a:ext cx="7315200" cy="3730752"/>
          </a:xfrm>
          <a:custGeom>
            <a:avLst/>
            <a:gdLst/>
            <a:ahLst/>
            <a:cxnLst/>
            <a:rect r="r" b="b" t="t" l="l"/>
            <a:pathLst>
              <a:path h="3730752" w="7315200">
                <a:moveTo>
                  <a:pt x="0" y="0"/>
                </a:moveTo>
                <a:lnTo>
                  <a:pt x="7315200" y="0"/>
                </a:lnTo>
                <a:lnTo>
                  <a:pt x="7315200" y="3730752"/>
                </a:lnTo>
                <a:lnTo>
                  <a:pt x="0" y="37307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3150182"/>
            <a:ext cx="16230600" cy="6271199"/>
            <a:chOff x="0" y="0"/>
            <a:chExt cx="21640800" cy="8361599"/>
          </a:xfrm>
        </p:grpSpPr>
        <p:grpSp>
          <p:nvGrpSpPr>
            <p:cNvPr name="Group 4" id="4"/>
            <p:cNvGrpSpPr/>
            <p:nvPr/>
          </p:nvGrpSpPr>
          <p:grpSpPr>
            <a:xfrm rot="0">
              <a:off x="0" y="232570"/>
              <a:ext cx="21404934" cy="8129029"/>
              <a:chOff x="0" y="0"/>
              <a:chExt cx="4228135" cy="1605734"/>
            </a:xfrm>
          </p:grpSpPr>
          <p:sp>
            <p:nvSpPr>
              <p:cNvPr name="Freeform 5" id="5"/>
              <p:cNvSpPr/>
              <p:nvPr/>
            </p:nvSpPr>
            <p:spPr>
              <a:xfrm flipH="false" flipV="false" rot="0">
                <a:off x="0" y="0"/>
                <a:ext cx="4228135" cy="1605734"/>
              </a:xfrm>
              <a:custGeom>
                <a:avLst/>
                <a:gdLst/>
                <a:ahLst/>
                <a:cxnLst/>
                <a:rect r="r" b="b" t="t" l="l"/>
                <a:pathLst>
                  <a:path h="1605734" w="4228135">
                    <a:moveTo>
                      <a:pt x="0" y="0"/>
                    </a:moveTo>
                    <a:lnTo>
                      <a:pt x="4228135" y="0"/>
                    </a:lnTo>
                    <a:lnTo>
                      <a:pt x="4228135" y="1605734"/>
                    </a:lnTo>
                    <a:lnTo>
                      <a:pt x="0" y="1605734"/>
                    </a:lnTo>
                    <a:close/>
                  </a:path>
                </a:pathLst>
              </a:custGeom>
              <a:solidFill>
                <a:srgbClr val="FEFBDB"/>
              </a:solidFill>
            </p:spPr>
          </p:sp>
          <p:sp>
            <p:nvSpPr>
              <p:cNvPr name="TextBox 6" id="6"/>
              <p:cNvSpPr txBox="true"/>
              <p:nvPr/>
            </p:nvSpPr>
            <p:spPr>
              <a:xfrm>
                <a:off x="0" y="-38100"/>
                <a:ext cx="4228135" cy="1643834"/>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335647" y="0"/>
              <a:ext cx="21305153" cy="8127338"/>
              <a:chOff x="0" y="0"/>
              <a:chExt cx="4208425" cy="1605400"/>
            </a:xfrm>
          </p:grpSpPr>
          <p:sp>
            <p:nvSpPr>
              <p:cNvPr name="Freeform 8" id="8"/>
              <p:cNvSpPr/>
              <p:nvPr/>
            </p:nvSpPr>
            <p:spPr>
              <a:xfrm flipH="false" flipV="false" rot="0">
                <a:off x="0" y="0"/>
                <a:ext cx="4208425" cy="1605400"/>
              </a:xfrm>
              <a:custGeom>
                <a:avLst/>
                <a:gdLst/>
                <a:ahLst/>
                <a:cxnLst/>
                <a:rect r="r" b="b" t="t" l="l"/>
                <a:pathLst>
                  <a:path h="1605400" w="4208425">
                    <a:moveTo>
                      <a:pt x="0" y="0"/>
                    </a:moveTo>
                    <a:lnTo>
                      <a:pt x="4208425" y="0"/>
                    </a:lnTo>
                    <a:lnTo>
                      <a:pt x="4208425" y="1605400"/>
                    </a:lnTo>
                    <a:lnTo>
                      <a:pt x="0" y="1605400"/>
                    </a:lnTo>
                    <a:close/>
                  </a:path>
                </a:pathLst>
              </a:custGeom>
              <a:ln w="57150" cap="sq">
                <a:solidFill>
                  <a:srgbClr val="000000"/>
                </a:solidFill>
                <a:prstDash val="solid"/>
                <a:miter/>
              </a:ln>
            </p:spPr>
          </p:sp>
          <p:sp>
            <p:nvSpPr>
              <p:cNvPr name="TextBox 9" id="9"/>
              <p:cNvSpPr txBox="true"/>
              <p:nvPr/>
            </p:nvSpPr>
            <p:spPr>
              <a:xfrm>
                <a:off x="0" y="-38100"/>
                <a:ext cx="4208425" cy="1643500"/>
              </a:xfrm>
              <a:prstGeom prst="rect">
                <a:avLst/>
              </a:prstGeom>
            </p:spPr>
            <p:txBody>
              <a:bodyPr anchor="ctr" rtlCol="false" tIns="50800" lIns="50800" bIns="50800" rIns="50800"/>
              <a:lstStyle/>
              <a:p>
                <a:pPr algn="ctr">
                  <a:lnSpc>
                    <a:spcPts val="2659"/>
                  </a:lnSpc>
                </a:pPr>
              </a:p>
            </p:txBody>
          </p:sp>
        </p:grpSp>
      </p:grpSp>
      <p:sp>
        <p:nvSpPr>
          <p:cNvPr name="Freeform 10" id="10"/>
          <p:cNvSpPr/>
          <p:nvPr/>
        </p:nvSpPr>
        <p:spPr>
          <a:xfrm flipH="false" flipV="false" rot="0">
            <a:off x="6408322" y="2538010"/>
            <a:ext cx="5294457" cy="1224343"/>
          </a:xfrm>
          <a:custGeom>
            <a:avLst/>
            <a:gdLst/>
            <a:ahLst/>
            <a:cxnLst/>
            <a:rect r="r" b="b" t="t" l="l"/>
            <a:pathLst>
              <a:path h="1224343" w="5294457">
                <a:moveTo>
                  <a:pt x="0" y="0"/>
                </a:moveTo>
                <a:lnTo>
                  <a:pt x="5294457" y="0"/>
                </a:lnTo>
                <a:lnTo>
                  <a:pt x="5294457" y="1224343"/>
                </a:lnTo>
                <a:lnTo>
                  <a:pt x="0" y="122434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674643" y="747310"/>
            <a:ext cx="16938714" cy="1438275"/>
          </a:xfrm>
          <a:prstGeom prst="rect">
            <a:avLst/>
          </a:prstGeom>
        </p:spPr>
        <p:txBody>
          <a:bodyPr anchor="t" rtlCol="false" tIns="0" lIns="0" bIns="0" rIns="0">
            <a:spAutoFit/>
          </a:bodyPr>
          <a:lstStyle/>
          <a:p>
            <a:pPr algn="ctr">
              <a:lnSpc>
                <a:spcPts val="10500"/>
              </a:lnSpc>
              <a:spcBef>
                <a:spcPct val="0"/>
              </a:spcBef>
            </a:pPr>
            <a:r>
              <a:rPr lang="en-US" sz="7500">
                <a:solidFill>
                  <a:srgbClr val="FAD00A"/>
                </a:solidFill>
                <a:latin typeface="Pixellet TH"/>
                <a:ea typeface="Pixellet TH"/>
                <a:cs typeface="Pixellet TH"/>
                <a:sym typeface="Pixellet TH"/>
              </a:rPr>
              <a:t>What is the game’s concept?</a:t>
            </a:r>
          </a:p>
        </p:txBody>
      </p:sp>
      <p:sp>
        <p:nvSpPr>
          <p:cNvPr name="TextBox 12" id="12"/>
          <p:cNvSpPr txBox="true"/>
          <p:nvPr/>
        </p:nvSpPr>
        <p:spPr>
          <a:xfrm rot="0">
            <a:off x="1769202" y="4013559"/>
            <a:ext cx="14307129" cy="1784986"/>
          </a:xfrm>
          <a:prstGeom prst="rect">
            <a:avLst/>
          </a:prstGeom>
        </p:spPr>
        <p:txBody>
          <a:bodyPr anchor="t" rtlCol="false" tIns="0" lIns="0" bIns="0" rIns="0">
            <a:spAutoFit/>
          </a:bodyPr>
          <a:lstStyle/>
          <a:p>
            <a:pPr algn="ctr">
              <a:lnSpc>
                <a:spcPts val="7139"/>
              </a:lnSpc>
              <a:spcBef>
                <a:spcPct val="0"/>
              </a:spcBef>
            </a:pPr>
            <a:r>
              <a:rPr lang="en-US" sz="5099">
                <a:solidFill>
                  <a:srgbClr val="000000"/>
                </a:solidFill>
                <a:latin typeface="Bitter"/>
                <a:ea typeface="Bitter"/>
                <a:cs typeface="Bitter"/>
                <a:sym typeface="Bitter"/>
              </a:rPr>
              <a:t>The game aims to help beginners learn Python basics in a fun and interactive way.</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EFBDB"/>
        </a:solidFill>
      </p:bgPr>
    </p:bg>
    <p:spTree>
      <p:nvGrpSpPr>
        <p:cNvPr id="1" name=""/>
        <p:cNvGrpSpPr/>
        <p:nvPr/>
      </p:nvGrpSpPr>
      <p:grpSpPr>
        <a:xfrm>
          <a:off x="0" y="0"/>
          <a:ext cx="0" cy="0"/>
          <a:chOff x="0" y="0"/>
          <a:chExt cx="0" cy="0"/>
        </a:xfrm>
      </p:grpSpPr>
      <p:grpSp>
        <p:nvGrpSpPr>
          <p:cNvPr name="Group 2" id="2"/>
          <p:cNvGrpSpPr/>
          <p:nvPr/>
        </p:nvGrpSpPr>
        <p:grpSpPr>
          <a:xfrm rot="0">
            <a:off x="-514350" y="788266"/>
            <a:ext cx="18802350" cy="3068926"/>
            <a:chOff x="0" y="0"/>
            <a:chExt cx="4952059" cy="808277"/>
          </a:xfrm>
        </p:grpSpPr>
        <p:sp>
          <p:nvSpPr>
            <p:cNvPr name="Freeform 3" id="3"/>
            <p:cNvSpPr/>
            <p:nvPr/>
          </p:nvSpPr>
          <p:spPr>
            <a:xfrm flipH="false" flipV="false" rot="0">
              <a:off x="0" y="0"/>
              <a:ext cx="4952059" cy="808277"/>
            </a:xfrm>
            <a:custGeom>
              <a:avLst/>
              <a:gdLst/>
              <a:ahLst/>
              <a:cxnLst/>
              <a:rect r="r" b="b" t="t" l="l"/>
              <a:pathLst>
                <a:path h="808277" w="4952059">
                  <a:moveTo>
                    <a:pt x="0" y="0"/>
                  </a:moveTo>
                  <a:lnTo>
                    <a:pt x="4952059" y="0"/>
                  </a:lnTo>
                  <a:lnTo>
                    <a:pt x="4952059" y="808277"/>
                  </a:lnTo>
                  <a:lnTo>
                    <a:pt x="0" y="808277"/>
                  </a:lnTo>
                  <a:close/>
                </a:path>
              </a:pathLst>
            </a:custGeom>
            <a:solidFill>
              <a:srgbClr val="FAD00A"/>
            </a:solidFill>
          </p:spPr>
        </p:sp>
        <p:sp>
          <p:nvSpPr>
            <p:cNvPr name="TextBox 4" id="4"/>
            <p:cNvSpPr txBox="true"/>
            <p:nvPr/>
          </p:nvSpPr>
          <p:spPr>
            <a:xfrm>
              <a:off x="0" y="-38100"/>
              <a:ext cx="4952059" cy="84637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1943434"/>
            <a:ext cx="7287435" cy="7314866"/>
            <a:chOff x="0" y="0"/>
            <a:chExt cx="9716581" cy="9753155"/>
          </a:xfrm>
        </p:grpSpPr>
        <p:grpSp>
          <p:nvGrpSpPr>
            <p:cNvPr name="Group 6" id="6"/>
            <p:cNvGrpSpPr/>
            <p:nvPr/>
          </p:nvGrpSpPr>
          <p:grpSpPr>
            <a:xfrm rot="0">
              <a:off x="201915" y="220202"/>
              <a:ext cx="9312751" cy="931275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FBDB"/>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0" y="0"/>
              <a:ext cx="9716581" cy="9753155"/>
            </a:xfrm>
            <a:custGeom>
              <a:avLst/>
              <a:gdLst/>
              <a:ahLst/>
              <a:cxnLst/>
              <a:rect r="r" b="b" t="t" l="l"/>
              <a:pathLst>
                <a:path h="9753155" w="9716581">
                  <a:moveTo>
                    <a:pt x="0" y="0"/>
                  </a:moveTo>
                  <a:lnTo>
                    <a:pt x="9716581" y="0"/>
                  </a:lnTo>
                  <a:lnTo>
                    <a:pt x="9716581" y="9753155"/>
                  </a:lnTo>
                  <a:lnTo>
                    <a:pt x="0" y="97531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10" id="10"/>
          <p:cNvSpPr txBox="true"/>
          <p:nvPr/>
        </p:nvSpPr>
        <p:spPr>
          <a:xfrm rot="0">
            <a:off x="8723681" y="1085850"/>
            <a:ext cx="8630292" cy="1111756"/>
          </a:xfrm>
          <a:prstGeom prst="rect">
            <a:avLst/>
          </a:prstGeom>
        </p:spPr>
        <p:txBody>
          <a:bodyPr anchor="t" rtlCol="false" tIns="0" lIns="0" bIns="0" rIns="0">
            <a:spAutoFit/>
          </a:bodyPr>
          <a:lstStyle/>
          <a:p>
            <a:pPr algn="ctr">
              <a:lnSpc>
                <a:spcPts val="7160"/>
              </a:lnSpc>
            </a:pPr>
            <a:r>
              <a:rPr lang="en-US" sz="7699">
                <a:solidFill>
                  <a:srgbClr val="000000"/>
                </a:solidFill>
                <a:latin typeface="Pixellet TH"/>
                <a:ea typeface="Pixellet TH"/>
                <a:cs typeface="Pixellet TH"/>
                <a:sym typeface="Pixellet TH"/>
              </a:rPr>
              <a:t>Introduction</a:t>
            </a:r>
          </a:p>
        </p:txBody>
      </p:sp>
      <p:sp>
        <p:nvSpPr>
          <p:cNvPr name="TextBox 11" id="11"/>
          <p:cNvSpPr txBox="true"/>
          <p:nvPr/>
        </p:nvSpPr>
        <p:spPr>
          <a:xfrm rot="0">
            <a:off x="9333345" y="4937125"/>
            <a:ext cx="7925955" cy="4940300"/>
          </a:xfrm>
          <a:prstGeom prst="rect">
            <a:avLst/>
          </a:prstGeom>
        </p:spPr>
        <p:txBody>
          <a:bodyPr anchor="t" rtlCol="false" tIns="0" lIns="0" bIns="0" rIns="0">
            <a:spAutoFit/>
          </a:bodyPr>
          <a:lstStyle/>
          <a:p>
            <a:pPr algn="ctr">
              <a:lnSpc>
                <a:spcPts val="4900"/>
              </a:lnSpc>
              <a:spcBef>
                <a:spcPct val="0"/>
              </a:spcBef>
            </a:pPr>
            <a:r>
              <a:rPr lang="en-US" sz="3500">
                <a:solidFill>
                  <a:srgbClr val="000000"/>
                </a:solidFill>
                <a:latin typeface="Bitter"/>
                <a:ea typeface="Bitter"/>
                <a:cs typeface="Bitter"/>
                <a:sym typeface="Bitter"/>
              </a:rPr>
              <a:t>The game works by only letting you upgrade when you answer Python questions correctly, and when you upgrade your stats, you are able to defeat stronger enemies and do more damage. This leads to a fun, interactive way to learn Python in a gamified manner.</a:t>
            </a:r>
          </a:p>
        </p:txBody>
      </p:sp>
      <p:grpSp>
        <p:nvGrpSpPr>
          <p:cNvPr name="Group 12" id="12"/>
          <p:cNvGrpSpPr/>
          <p:nvPr/>
        </p:nvGrpSpPr>
        <p:grpSpPr>
          <a:xfrm rot="0">
            <a:off x="9875016" y="3444537"/>
            <a:ext cx="6842613" cy="825311"/>
            <a:chOff x="0" y="0"/>
            <a:chExt cx="9123485" cy="1100415"/>
          </a:xfrm>
        </p:grpSpPr>
        <p:sp>
          <p:nvSpPr>
            <p:cNvPr name="Freeform 13" id="13"/>
            <p:cNvSpPr/>
            <p:nvPr/>
          </p:nvSpPr>
          <p:spPr>
            <a:xfrm flipH="false" flipV="false" rot="0">
              <a:off x="0" y="0"/>
              <a:ext cx="4561742" cy="1100415"/>
            </a:xfrm>
            <a:custGeom>
              <a:avLst/>
              <a:gdLst/>
              <a:ahLst/>
              <a:cxnLst/>
              <a:rect r="r" b="b" t="t" l="l"/>
              <a:pathLst>
                <a:path h="1100415" w="4561742">
                  <a:moveTo>
                    <a:pt x="0" y="0"/>
                  </a:moveTo>
                  <a:lnTo>
                    <a:pt x="4561742" y="0"/>
                  </a:lnTo>
                  <a:lnTo>
                    <a:pt x="4561742" y="1100415"/>
                  </a:lnTo>
                  <a:lnTo>
                    <a:pt x="0" y="1100415"/>
                  </a:lnTo>
                  <a:lnTo>
                    <a:pt x="0" y="0"/>
                  </a:lnTo>
                  <a:close/>
                </a:path>
              </a:pathLst>
            </a:custGeom>
            <a:blipFill>
              <a:blip r:embed="rId4">
                <a:extLst>
                  <a:ext uri="{96DAC541-7B7A-43D3-8B79-37D633B846F1}">
                    <asvg:svgBlip xmlns:asvg="http://schemas.microsoft.com/office/drawing/2016/SVG/main" r:embed="rId5"/>
                  </a:ext>
                </a:extLst>
              </a:blip>
              <a:stretch>
                <a:fillRect l="0" t="0" r="-2649" b="0"/>
              </a:stretch>
            </a:blipFill>
          </p:spPr>
        </p:sp>
        <p:sp>
          <p:nvSpPr>
            <p:cNvPr name="Freeform 14" id="14"/>
            <p:cNvSpPr/>
            <p:nvPr/>
          </p:nvSpPr>
          <p:spPr>
            <a:xfrm flipH="true" flipV="false" rot="0">
              <a:off x="4561742" y="0"/>
              <a:ext cx="4561742" cy="1100415"/>
            </a:xfrm>
            <a:custGeom>
              <a:avLst/>
              <a:gdLst/>
              <a:ahLst/>
              <a:cxnLst/>
              <a:rect r="r" b="b" t="t" l="l"/>
              <a:pathLst>
                <a:path h="1100415" w="4561742">
                  <a:moveTo>
                    <a:pt x="4561743" y="0"/>
                  </a:moveTo>
                  <a:lnTo>
                    <a:pt x="0" y="0"/>
                  </a:lnTo>
                  <a:lnTo>
                    <a:pt x="0" y="1100415"/>
                  </a:lnTo>
                  <a:lnTo>
                    <a:pt x="4561743" y="1100415"/>
                  </a:lnTo>
                  <a:lnTo>
                    <a:pt x="4561743" y="0"/>
                  </a:lnTo>
                  <a:close/>
                </a:path>
              </a:pathLst>
            </a:custGeom>
            <a:blipFill>
              <a:blip r:embed="rId4">
                <a:extLst>
                  <a:ext uri="{96DAC541-7B7A-43D3-8B79-37D633B846F1}">
                    <asvg:svgBlip xmlns:asvg="http://schemas.microsoft.com/office/drawing/2016/SVG/main" r:embed="rId5"/>
                  </a:ext>
                </a:extLst>
              </a:blip>
              <a:stretch>
                <a:fillRect l="0" t="0" r="-2649" b="0"/>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0" y="1085850"/>
            <a:ext cx="18288000" cy="1111764"/>
          </a:xfrm>
          <a:prstGeom prst="rect">
            <a:avLst/>
          </a:prstGeom>
        </p:spPr>
        <p:txBody>
          <a:bodyPr anchor="t" rtlCol="false" tIns="0" lIns="0" bIns="0" rIns="0">
            <a:spAutoFit/>
          </a:bodyPr>
          <a:lstStyle/>
          <a:p>
            <a:pPr algn="ctr">
              <a:lnSpc>
                <a:spcPts val="7161"/>
              </a:lnSpc>
            </a:pPr>
            <a:r>
              <a:rPr lang="en-US" sz="7700">
                <a:solidFill>
                  <a:srgbClr val="5BC4BD"/>
                </a:solidFill>
                <a:latin typeface="Pixellet TH"/>
                <a:ea typeface="Pixellet TH"/>
                <a:cs typeface="Pixellet TH"/>
                <a:sym typeface="Pixellet TH"/>
              </a:rPr>
              <a:t>who is our target audience?</a:t>
            </a:r>
          </a:p>
        </p:txBody>
      </p:sp>
      <p:grpSp>
        <p:nvGrpSpPr>
          <p:cNvPr name="Group 3" id="3"/>
          <p:cNvGrpSpPr/>
          <p:nvPr/>
        </p:nvGrpSpPr>
        <p:grpSpPr>
          <a:xfrm rot="-10800000">
            <a:off x="1028700" y="3150182"/>
            <a:ext cx="16230600" cy="6271199"/>
            <a:chOff x="0" y="0"/>
            <a:chExt cx="21640800" cy="8361599"/>
          </a:xfrm>
        </p:grpSpPr>
        <p:grpSp>
          <p:nvGrpSpPr>
            <p:cNvPr name="Group 4" id="4"/>
            <p:cNvGrpSpPr/>
            <p:nvPr/>
          </p:nvGrpSpPr>
          <p:grpSpPr>
            <a:xfrm rot="0">
              <a:off x="0" y="232570"/>
              <a:ext cx="21404934" cy="8129029"/>
              <a:chOff x="0" y="0"/>
              <a:chExt cx="4228135" cy="1605734"/>
            </a:xfrm>
          </p:grpSpPr>
          <p:sp>
            <p:nvSpPr>
              <p:cNvPr name="Freeform 5" id="5"/>
              <p:cNvSpPr/>
              <p:nvPr/>
            </p:nvSpPr>
            <p:spPr>
              <a:xfrm flipH="false" flipV="false" rot="0">
                <a:off x="0" y="0"/>
                <a:ext cx="4228135" cy="1605734"/>
              </a:xfrm>
              <a:custGeom>
                <a:avLst/>
                <a:gdLst/>
                <a:ahLst/>
                <a:cxnLst/>
                <a:rect r="r" b="b" t="t" l="l"/>
                <a:pathLst>
                  <a:path h="1605734" w="4228135">
                    <a:moveTo>
                      <a:pt x="0" y="0"/>
                    </a:moveTo>
                    <a:lnTo>
                      <a:pt x="4228135" y="0"/>
                    </a:lnTo>
                    <a:lnTo>
                      <a:pt x="4228135" y="1605734"/>
                    </a:lnTo>
                    <a:lnTo>
                      <a:pt x="0" y="1605734"/>
                    </a:lnTo>
                    <a:close/>
                  </a:path>
                </a:pathLst>
              </a:custGeom>
              <a:solidFill>
                <a:srgbClr val="FEFBDB"/>
              </a:solidFill>
            </p:spPr>
          </p:sp>
          <p:sp>
            <p:nvSpPr>
              <p:cNvPr name="TextBox 6" id="6"/>
              <p:cNvSpPr txBox="true"/>
              <p:nvPr/>
            </p:nvSpPr>
            <p:spPr>
              <a:xfrm>
                <a:off x="0" y="-38100"/>
                <a:ext cx="4228135" cy="1643834"/>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335647" y="0"/>
              <a:ext cx="21305153" cy="8127338"/>
              <a:chOff x="0" y="0"/>
              <a:chExt cx="4208425" cy="1605400"/>
            </a:xfrm>
          </p:grpSpPr>
          <p:sp>
            <p:nvSpPr>
              <p:cNvPr name="Freeform 8" id="8"/>
              <p:cNvSpPr/>
              <p:nvPr/>
            </p:nvSpPr>
            <p:spPr>
              <a:xfrm flipH="false" flipV="false" rot="0">
                <a:off x="0" y="0"/>
                <a:ext cx="4208425" cy="1605400"/>
              </a:xfrm>
              <a:custGeom>
                <a:avLst/>
                <a:gdLst/>
                <a:ahLst/>
                <a:cxnLst/>
                <a:rect r="r" b="b" t="t" l="l"/>
                <a:pathLst>
                  <a:path h="1605400" w="4208425">
                    <a:moveTo>
                      <a:pt x="0" y="0"/>
                    </a:moveTo>
                    <a:lnTo>
                      <a:pt x="4208425" y="0"/>
                    </a:lnTo>
                    <a:lnTo>
                      <a:pt x="4208425" y="1605400"/>
                    </a:lnTo>
                    <a:lnTo>
                      <a:pt x="0" y="1605400"/>
                    </a:lnTo>
                    <a:close/>
                  </a:path>
                </a:pathLst>
              </a:custGeom>
              <a:ln w="57150" cap="sq">
                <a:solidFill>
                  <a:srgbClr val="000000"/>
                </a:solidFill>
                <a:prstDash val="solid"/>
                <a:miter/>
              </a:ln>
            </p:spPr>
          </p:sp>
          <p:sp>
            <p:nvSpPr>
              <p:cNvPr name="TextBox 9" id="9"/>
              <p:cNvSpPr txBox="true"/>
              <p:nvPr/>
            </p:nvSpPr>
            <p:spPr>
              <a:xfrm>
                <a:off x="0" y="-38100"/>
                <a:ext cx="4208425" cy="1643500"/>
              </a:xfrm>
              <a:prstGeom prst="rect">
                <a:avLst/>
              </a:prstGeom>
            </p:spPr>
            <p:txBody>
              <a:bodyPr anchor="ctr" rtlCol="false" tIns="50800" lIns="50800" bIns="50800" rIns="50800"/>
              <a:lstStyle/>
              <a:p>
                <a:pPr algn="ctr">
                  <a:lnSpc>
                    <a:spcPts val="2659"/>
                  </a:lnSpc>
                </a:pPr>
              </a:p>
            </p:txBody>
          </p:sp>
        </p:grpSp>
      </p:grpSp>
      <p:sp>
        <p:nvSpPr>
          <p:cNvPr name="TextBox 10" id="10"/>
          <p:cNvSpPr txBox="true"/>
          <p:nvPr/>
        </p:nvSpPr>
        <p:spPr>
          <a:xfrm rot="0">
            <a:off x="2728911" y="4315375"/>
            <a:ext cx="13501689" cy="1835151"/>
          </a:xfrm>
          <a:prstGeom prst="rect">
            <a:avLst/>
          </a:prstGeom>
        </p:spPr>
        <p:txBody>
          <a:bodyPr anchor="t" rtlCol="false" tIns="0" lIns="0" bIns="0" rIns="0">
            <a:spAutoFit/>
          </a:bodyPr>
          <a:lstStyle/>
          <a:p>
            <a:pPr algn="ctr">
              <a:lnSpc>
                <a:spcPts val="4899"/>
              </a:lnSpc>
              <a:spcBef>
                <a:spcPct val="0"/>
              </a:spcBef>
            </a:pPr>
            <a:r>
              <a:rPr lang="en-US" sz="3499">
                <a:solidFill>
                  <a:srgbClr val="000000"/>
                </a:solidFill>
                <a:latin typeface="Bitter"/>
                <a:ea typeface="Bitter"/>
                <a:cs typeface="Bitter"/>
                <a:sym typeface="Bitter"/>
              </a:rPr>
              <a:t>The game aims to appeal to people with little to no knowledge of Python and/or any programming language, as it starts at a low difficulty and slowly increases as the player progresses.</a:t>
            </a:r>
          </a:p>
        </p:txBody>
      </p:sp>
      <p:sp>
        <p:nvSpPr>
          <p:cNvPr name="Freeform 11" id="11"/>
          <p:cNvSpPr/>
          <p:nvPr/>
        </p:nvSpPr>
        <p:spPr>
          <a:xfrm flipH="false" flipV="false" rot="-2700000">
            <a:off x="8258099" y="2177854"/>
            <a:ext cx="1771802" cy="1751870"/>
          </a:xfrm>
          <a:custGeom>
            <a:avLst/>
            <a:gdLst/>
            <a:ahLst/>
            <a:cxnLst/>
            <a:rect r="r" b="b" t="t" l="l"/>
            <a:pathLst>
              <a:path h="1751870" w="1771802">
                <a:moveTo>
                  <a:pt x="0" y="0"/>
                </a:moveTo>
                <a:lnTo>
                  <a:pt x="1771802" y="0"/>
                </a:lnTo>
                <a:lnTo>
                  <a:pt x="1771802" y="1751870"/>
                </a:lnTo>
                <a:lnTo>
                  <a:pt x="0" y="17518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5400000">
            <a:off x="14149791" y="6148791"/>
            <a:ext cx="4161618" cy="4114800"/>
          </a:xfrm>
          <a:custGeom>
            <a:avLst/>
            <a:gdLst/>
            <a:ahLst/>
            <a:cxnLst/>
            <a:rect r="r" b="b" t="t" l="l"/>
            <a:pathLst>
              <a:path h="4114800" w="4161618">
                <a:moveTo>
                  <a:pt x="0" y="0"/>
                </a:moveTo>
                <a:lnTo>
                  <a:pt x="4161618" y="0"/>
                </a:lnTo>
                <a:lnTo>
                  <a:pt x="416161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0" y="6125382"/>
            <a:ext cx="4161618" cy="4114800"/>
          </a:xfrm>
          <a:custGeom>
            <a:avLst/>
            <a:gdLst/>
            <a:ahLst/>
            <a:cxnLst/>
            <a:rect r="r" b="b" t="t" l="l"/>
            <a:pathLst>
              <a:path h="4114800" w="4161618">
                <a:moveTo>
                  <a:pt x="0" y="0"/>
                </a:moveTo>
                <a:lnTo>
                  <a:pt x="4161618" y="0"/>
                </a:lnTo>
                <a:lnTo>
                  <a:pt x="416161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0" y="4163755"/>
            <a:ext cx="18288000" cy="2016639"/>
          </a:xfrm>
          <a:prstGeom prst="rect">
            <a:avLst/>
          </a:prstGeom>
        </p:spPr>
        <p:txBody>
          <a:bodyPr anchor="t" rtlCol="false" tIns="0" lIns="0" bIns="0" rIns="0">
            <a:spAutoFit/>
          </a:bodyPr>
          <a:lstStyle/>
          <a:p>
            <a:pPr algn="ctr">
              <a:lnSpc>
                <a:spcPts val="7161"/>
              </a:lnSpc>
            </a:pPr>
            <a:r>
              <a:rPr lang="en-US" sz="7700">
                <a:solidFill>
                  <a:srgbClr val="5BC4BD"/>
                </a:solidFill>
                <a:latin typeface="Pixellet TH"/>
                <a:ea typeface="Pixellet TH"/>
                <a:cs typeface="Pixellet TH"/>
                <a:sym typeface="Pixellet TH"/>
              </a:rPr>
              <a:t>enjoy a short live demonstration of the game!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514350" y="0"/>
            <a:ext cx="18802350" cy="2856866"/>
            <a:chOff x="0" y="0"/>
            <a:chExt cx="4952059" cy="752426"/>
          </a:xfrm>
        </p:grpSpPr>
        <p:sp>
          <p:nvSpPr>
            <p:cNvPr name="Freeform 3" id="3"/>
            <p:cNvSpPr/>
            <p:nvPr/>
          </p:nvSpPr>
          <p:spPr>
            <a:xfrm flipH="false" flipV="false" rot="0">
              <a:off x="0" y="0"/>
              <a:ext cx="4952059" cy="752426"/>
            </a:xfrm>
            <a:custGeom>
              <a:avLst/>
              <a:gdLst/>
              <a:ahLst/>
              <a:cxnLst/>
              <a:rect r="r" b="b" t="t" l="l"/>
              <a:pathLst>
                <a:path h="752426" w="4952059">
                  <a:moveTo>
                    <a:pt x="0" y="0"/>
                  </a:moveTo>
                  <a:lnTo>
                    <a:pt x="4952059" y="0"/>
                  </a:lnTo>
                  <a:lnTo>
                    <a:pt x="4952059" y="752426"/>
                  </a:lnTo>
                  <a:lnTo>
                    <a:pt x="0" y="752426"/>
                  </a:lnTo>
                  <a:close/>
                </a:path>
              </a:pathLst>
            </a:custGeom>
            <a:solidFill>
              <a:srgbClr val="FEFBDB"/>
            </a:solidFill>
          </p:spPr>
        </p:sp>
        <p:sp>
          <p:nvSpPr>
            <p:cNvPr name="TextBox 4" id="4"/>
            <p:cNvSpPr txBox="true"/>
            <p:nvPr/>
          </p:nvSpPr>
          <p:spPr>
            <a:xfrm>
              <a:off x="0" y="-38100"/>
              <a:ext cx="4952059" cy="790526"/>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38369" y="2463228"/>
            <a:ext cx="16602620" cy="7215761"/>
            <a:chOff x="0" y="0"/>
            <a:chExt cx="22136827" cy="9621014"/>
          </a:xfrm>
        </p:grpSpPr>
        <p:grpSp>
          <p:nvGrpSpPr>
            <p:cNvPr name="Group 6" id="6"/>
            <p:cNvGrpSpPr/>
            <p:nvPr/>
          </p:nvGrpSpPr>
          <p:grpSpPr>
            <a:xfrm rot="0">
              <a:off x="0" y="267599"/>
              <a:ext cx="21895555" cy="9353415"/>
              <a:chOff x="0" y="0"/>
              <a:chExt cx="4325048" cy="1847588"/>
            </a:xfrm>
          </p:grpSpPr>
          <p:sp>
            <p:nvSpPr>
              <p:cNvPr name="Freeform 7" id="7"/>
              <p:cNvSpPr/>
              <p:nvPr/>
            </p:nvSpPr>
            <p:spPr>
              <a:xfrm flipH="false" flipV="false" rot="0">
                <a:off x="0" y="0"/>
                <a:ext cx="4325048" cy="1847588"/>
              </a:xfrm>
              <a:custGeom>
                <a:avLst/>
                <a:gdLst/>
                <a:ahLst/>
                <a:cxnLst/>
                <a:rect r="r" b="b" t="t" l="l"/>
                <a:pathLst>
                  <a:path h="1847588" w="4325048">
                    <a:moveTo>
                      <a:pt x="0" y="0"/>
                    </a:moveTo>
                    <a:lnTo>
                      <a:pt x="4325048" y="0"/>
                    </a:lnTo>
                    <a:lnTo>
                      <a:pt x="4325048" y="1847588"/>
                    </a:lnTo>
                    <a:lnTo>
                      <a:pt x="0" y="1847588"/>
                    </a:lnTo>
                    <a:close/>
                  </a:path>
                </a:pathLst>
              </a:custGeom>
              <a:solidFill>
                <a:srgbClr val="5BC4BD"/>
              </a:solidFill>
            </p:spPr>
          </p:sp>
          <p:sp>
            <p:nvSpPr>
              <p:cNvPr name="TextBox 8" id="8"/>
              <p:cNvSpPr txBox="true"/>
              <p:nvPr/>
            </p:nvSpPr>
            <p:spPr>
              <a:xfrm>
                <a:off x="0" y="-38100"/>
                <a:ext cx="4325048" cy="1885688"/>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343340" y="0"/>
              <a:ext cx="21793487" cy="9351469"/>
              <a:chOff x="0" y="0"/>
              <a:chExt cx="4304886" cy="1847204"/>
            </a:xfrm>
          </p:grpSpPr>
          <p:sp>
            <p:nvSpPr>
              <p:cNvPr name="Freeform 10" id="10"/>
              <p:cNvSpPr/>
              <p:nvPr/>
            </p:nvSpPr>
            <p:spPr>
              <a:xfrm flipH="false" flipV="false" rot="0">
                <a:off x="0" y="0"/>
                <a:ext cx="4304886" cy="1847204"/>
              </a:xfrm>
              <a:custGeom>
                <a:avLst/>
                <a:gdLst/>
                <a:ahLst/>
                <a:cxnLst/>
                <a:rect r="r" b="b" t="t" l="l"/>
                <a:pathLst>
                  <a:path h="1847204" w="4304886">
                    <a:moveTo>
                      <a:pt x="0" y="0"/>
                    </a:moveTo>
                    <a:lnTo>
                      <a:pt x="4304886" y="0"/>
                    </a:lnTo>
                    <a:lnTo>
                      <a:pt x="4304886" y="1847204"/>
                    </a:lnTo>
                    <a:lnTo>
                      <a:pt x="0" y="1847204"/>
                    </a:lnTo>
                    <a:close/>
                  </a:path>
                </a:pathLst>
              </a:custGeom>
              <a:ln w="57150" cap="sq">
                <a:solidFill>
                  <a:srgbClr val="000000"/>
                </a:solidFill>
                <a:prstDash val="solid"/>
                <a:miter/>
              </a:ln>
            </p:spPr>
          </p:sp>
          <p:sp>
            <p:nvSpPr>
              <p:cNvPr name="TextBox 11" id="11"/>
              <p:cNvSpPr txBox="true"/>
              <p:nvPr/>
            </p:nvSpPr>
            <p:spPr>
              <a:xfrm>
                <a:off x="0" y="-38100"/>
                <a:ext cx="4304886" cy="1885304"/>
              </a:xfrm>
              <a:prstGeom prst="rect">
                <a:avLst/>
              </a:prstGeom>
            </p:spPr>
            <p:txBody>
              <a:bodyPr anchor="ctr" rtlCol="false" tIns="50800" lIns="50800" bIns="50800" rIns="50800"/>
              <a:lstStyle/>
              <a:p>
                <a:pPr algn="ctr">
                  <a:lnSpc>
                    <a:spcPts val="2659"/>
                  </a:lnSpc>
                </a:pPr>
              </a:p>
            </p:txBody>
          </p:sp>
        </p:grpSp>
      </p:grpSp>
      <p:sp>
        <p:nvSpPr>
          <p:cNvPr name="TextBox 12" id="12"/>
          <p:cNvSpPr txBox="true"/>
          <p:nvPr/>
        </p:nvSpPr>
        <p:spPr>
          <a:xfrm rot="0">
            <a:off x="0" y="733425"/>
            <a:ext cx="18288000" cy="1438275"/>
          </a:xfrm>
          <a:prstGeom prst="rect">
            <a:avLst/>
          </a:prstGeom>
        </p:spPr>
        <p:txBody>
          <a:bodyPr anchor="t" rtlCol="false" tIns="0" lIns="0" bIns="0" rIns="0">
            <a:spAutoFit/>
          </a:bodyPr>
          <a:lstStyle/>
          <a:p>
            <a:pPr algn="ctr">
              <a:lnSpc>
                <a:spcPts val="10500"/>
              </a:lnSpc>
              <a:spcBef>
                <a:spcPct val="0"/>
              </a:spcBef>
            </a:pPr>
            <a:r>
              <a:rPr lang="en-US" sz="7500">
                <a:solidFill>
                  <a:srgbClr val="000000"/>
                </a:solidFill>
                <a:latin typeface="Pixellet TH"/>
                <a:ea typeface="Pixellet TH"/>
                <a:cs typeface="Pixellet TH"/>
                <a:sym typeface="Pixellet TH"/>
              </a:rPr>
              <a:t>how did we build our game?</a:t>
            </a:r>
          </a:p>
        </p:txBody>
      </p:sp>
      <p:sp>
        <p:nvSpPr>
          <p:cNvPr name="TextBox 13" id="13"/>
          <p:cNvSpPr txBox="true"/>
          <p:nvPr/>
        </p:nvSpPr>
        <p:spPr>
          <a:xfrm rot="0">
            <a:off x="1977891" y="2891664"/>
            <a:ext cx="14961427" cy="5417185"/>
          </a:xfrm>
          <a:prstGeom prst="rect">
            <a:avLst/>
          </a:prstGeom>
        </p:spPr>
        <p:txBody>
          <a:bodyPr anchor="t" rtlCol="false" tIns="0" lIns="0" bIns="0" rIns="0">
            <a:spAutoFit/>
          </a:bodyPr>
          <a:lstStyle/>
          <a:p>
            <a:pPr algn="l">
              <a:lnSpc>
                <a:spcPts val="4340"/>
              </a:lnSpc>
            </a:pPr>
            <a:r>
              <a:rPr lang="en-US" sz="3100">
                <a:solidFill>
                  <a:srgbClr val="000000"/>
                </a:solidFill>
                <a:latin typeface="Bitter"/>
                <a:ea typeface="Bitter"/>
                <a:cs typeface="Bitter"/>
                <a:sym typeface="Bitter"/>
              </a:rPr>
              <a:t>At first, we made the logics of the game using just the basic functions of pygame -e.g.(mob AI, raids, etc) We had to do a lot of bug testing which took 2 and a half out of the 3 days we spent building the game. After that, we had no time to make custom textures for our sprites and level, so we found a library -numpy- which allowed us to make our game much more polished in terms of art. However, because of the time constraints, we did not have the time to learn how to use this library to it’s fullest extend, therefore, we had to use AI for most of the draw functions using this library. However, the logic and bug testing of the code was done mostly no AI and the times they were used were only for syntax correction.</a:t>
            </a:r>
          </a:p>
        </p:txBody>
      </p:sp>
      <p:sp>
        <p:nvSpPr>
          <p:cNvPr name="Freeform 14" id="14"/>
          <p:cNvSpPr/>
          <p:nvPr/>
        </p:nvSpPr>
        <p:spPr>
          <a:xfrm flipH="false" flipV="false" rot="10245777">
            <a:off x="-919558" y="6831521"/>
            <a:ext cx="3204400" cy="4114800"/>
          </a:xfrm>
          <a:custGeom>
            <a:avLst/>
            <a:gdLst/>
            <a:ahLst/>
            <a:cxnLst/>
            <a:rect r="r" b="b" t="t" l="l"/>
            <a:pathLst>
              <a:path h="4114800" w="3204400">
                <a:moveTo>
                  <a:pt x="0" y="0"/>
                </a:moveTo>
                <a:lnTo>
                  <a:pt x="3204401" y="0"/>
                </a:lnTo>
                <a:lnTo>
                  <a:pt x="320440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p:cSld>
    <p:bg>
      <p:bgPr>
        <a:solidFill>
          <a:srgbClr val="EE3975"/>
        </a:solidFill>
      </p:bgPr>
    </p:bg>
    <p:spTree>
      <p:nvGrpSpPr>
        <p:cNvPr id="1" name=""/>
        <p:cNvGrpSpPr/>
        <p:nvPr/>
      </p:nvGrpSpPr>
      <p:grpSpPr>
        <a:xfrm>
          <a:off x="0" y="0"/>
          <a:ext cx="0" cy="0"/>
          <a:chOff x="0" y="0"/>
          <a:chExt cx="0" cy="0"/>
        </a:xfrm>
      </p:grpSpPr>
      <p:sp>
        <p:nvSpPr>
          <p:cNvPr name="TextBox 2" id="2"/>
          <p:cNvSpPr txBox="true"/>
          <p:nvPr/>
        </p:nvSpPr>
        <p:spPr>
          <a:xfrm rot="0">
            <a:off x="1028700" y="4276725"/>
            <a:ext cx="16230600" cy="1438275"/>
          </a:xfrm>
          <a:prstGeom prst="rect">
            <a:avLst/>
          </a:prstGeom>
        </p:spPr>
        <p:txBody>
          <a:bodyPr anchor="t" rtlCol="false" tIns="0" lIns="0" bIns="0" rIns="0">
            <a:spAutoFit/>
          </a:bodyPr>
          <a:lstStyle/>
          <a:p>
            <a:pPr algn="ctr">
              <a:lnSpc>
                <a:spcPts val="10500"/>
              </a:lnSpc>
              <a:spcBef>
                <a:spcPct val="0"/>
              </a:spcBef>
            </a:pPr>
            <a:r>
              <a:rPr lang="en-US" sz="7500">
                <a:solidFill>
                  <a:srgbClr val="000000"/>
                </a:solidFill>
                <a:latin typeface="Pixellet TH"/>
                <a:ea typeface="Pixellet TH"/>
                <a:cs typeface="Pixellet TH"/>
                <a:sym typeface="Pixellet TH"/>
              </a:rPr>
              <a:t>Q and a 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DAHMOXa_TMw</dc:identifier>
  <dcterms:modified xsi:type="dcterms:W3CDTF">2011-08-01T06:04:30Z</dcterms:modified>
  <cp:revision>1</cp:revision>
  <dc:title>Binary Code Presentation in Bright Colors Funky Retro Style</dc:title>
</cp:coreProperties>
</file>